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动汽车规模扩大后，高速长途出行对补能效率和可靠性的要求更高。换电通过提前充电、到站换电，减少用户停留时间。对运营商来说，关键是结合分时电价安排充电，在用户需要时准备好电池，同时控制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长途用户一次行程可能需要多次换电。我们考虑全行程预约：用户提前提供起讫点、入口时间和电量，运营商安排沿途换电站。路径决定各站需求，充电决定到站时能否供给，因此两者需要联合优化，兼顾服务可靠性和运营净收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际入口时间和电量、站间旅行时间以及随机到站需求都会变化，所以日前方案需要持续修正。每轮先更新状态，再优化未来一段时间，只执行当前一段，随后向前滚动。充电可以频繁调整，路径按较低频率更新，以减少对用户行程的打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短预测域会遗漏两类后续影响：一是电池在域外还有服务价值，二是已经安排的换电可能在域外才发生，比如用户在 H 加 3 时到达 C 站。我们把终端 SOC 分布和未完成服务一起交给价值函数，用运营轨迹学习后续净收益，再嵌入滚动模型。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文主要有四方面工作：建立全程换电路径与充电联合优化模型；设计不同更新频率的滚动框架；学习同时考虑电池和未完成服务的终端价值；进一步通过实验分析预约服务的适用条件与电池库存配置。最后一部分的具体结论仍需实验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后文先介绍运营场景和基本假设，再建立联合优化模型，随后说明终端价值学习，最后通过数值实验评价方法并总结。下面先从系统的运营过程讲起。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9E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14300"/>
          </a:xfrm>
          <a:prstGeom prst="rect">
            <a:avLst/>
          </a:prstGeom>
          <a:solidFill>
            <a:srgbClr val="A51C30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666750"/>
            <a:ext cx="180989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引言 / 研究背景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1181100"/>
            <a:ext cx="556269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800" b="1" spc="-75" kern="0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高速换电与充电调度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066800" y="2162175"/>
            <a:ext cx="16154400" cy="19050"/>
          </a:xfrm>
          <a:prstGeom prst="rect">
            <a:avLst/>
          </a:prstGeom>
          <a:solidFill>
            <a:srgbClr val="DDDDE1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2676525"/>
            <a:ext cx="423563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7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年底 · 中国电动汽车保有量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90600" y="3171825"/>
            <a:ext cx="368271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4,400</a:t>
            </a:r>
            <a:endParaRPr lang="en-US" sz="11250" dirty="0"/>
          </a:p>
        </p:txBody>
      </p:sp>
      <p:sp>
        <p:nvSpPr>
          <p:cNvPr id="9" name="Text 7"/>
          <p:cNvSpPr/>
          <p:nvPr/>
        </p:nvSpPr>
        <p:spPr>
          <a:xfrm>
            <a:off x="5314950" y="3895725"/>
            <a:ext cx="914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万辆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066800" y="5105400"/>
            <a:ext cx="1885950" cy="5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850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长距离出行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066800" y="5753100"/>
            <a:ext cx="4100894" cy="5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850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有限续航与较长补能时间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066800" y="6400800"/>
            <a:ext cx="2609850" cy="5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850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高峰期需求集中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7419975" y="2781300"/>
            <a:ext cx="19050" cy="4095750"/>
          </a:xfrm>
          <a:prstGeom prst="rect">
            <a:avLst/>
          </a:prstGeom>
          <a:solidFill>
            <a:srgbClr val="DDDDE1"/>
          </a:solidFill>
          <a:ln/>
        </p:spPr>
      </p:sp>
      <p:sp>
        <p:nvSpPr>
          <p:cNvPr id="14" name="Text 12"/>
          <p:cNvSpPr/>
          <p:nvPr/>
        </p:nvSpPr>
        <p:spPr>
          <a:xfrm>
            <a:off x="8420100" y="2724150"/>
            <a:ext cx="5180076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换电：提前充电，到站换电</a:t>
            </a:r>
            <a:endParaRPr lang="en-US" sz="3300" dirty="0"/>
          </a:p>
        </p:txBody>
      </p:sp>
      <p:sp>
        <p:nvSpPr>
          <p:cNvPr id="15" name="Shape 13"/>
          <p:cNvSpPr/>
          <p:nvPr/>
        </p:nvSpPr>
        <p:spPr>
          <a:xfrm>
            <a:off x="8420100" y="3914775"/>
            <a:ext cx="2286000" cy="1085850"/>
          </a:xfrm>
          <a:prstGeom prst="rect">
            <a:avLst/>
          </a:prstGeom>
          <a:solidFill>
            <a:srgbClr val="F5F5F6"/>
          </a:solidFill>
          <a:ln w="19050">
            <a:solidFill>
              <a:srgbClr val="DDDD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96300" y="4200525"/>
            <a:ext cx="21336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站内充电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0991850" y="423862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18" name="Shape 16"/>
          <p:cNvSpPr/>
          <p:nvPr/>
        </p:nvSpPr>
        <p:spPr>
          <a:xfrm>
            <a:off x="11715750" y="3914775"/>
            <a:ext cx="2286000" cy="1085850"/>
          </a:xfrm>
          <a:prstGeom prst="rect">
            <a:avLst/>
          </a:prstGeom>
          <a:solidFill>
            <a:srgbClr val="F8EFF0"/>
          </a:solidFill>
          <a:ln w="19050">
            <a:solidFill>
              <a:srgbClr val="A51C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91950" y="4200525"/>
            <a:ext cx="21336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满电库存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14287500" y="423862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21" name="Shape 19"/>
          <p:cNvSpPr/>
          <p:nvPr/>
        </p:nvSpPr>
        <p:spPr>
          <a:xfrm>
            <a:off x="15011400" y="3914775"/>
            <a:ext cx="2209800" cy="1085850"/>
          </a:xfrm>
          <a:prstGeom prst="rect">
            <a:avLst/>
          </a:prstGeom>
          <a:solidFill>
            <a:srgbClr val="F5F5F6"/>
          </a:solidFill>
          <a:ln w="19050">
            <a:solidFill>
              <a:srgbClr val="DDDD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087600" y="4200525"/>
            <a:ext cx="20574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到站换电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8288084" y="5448300"/>
            <a:ext cx="9065133" cy="5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850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电池充电与车辆停留在时间上分离</a:t>
            </a:r>
            <a:endParaRPr lang="en-US" sz="2850" dirty="0"/>
          </a:p>
        </p:txBody>
      </p:sp>
      <p:sp>
        <p:nvSpPr>
          <p:cNvPr id="24" name="Shape 22"/>
          <p:cNvSpPr/>
          <p:nvPr/>
        </p:nvSpPr>
        <p:spPr>
          <a:xfrm>
            <a:off x="8420100" y="6257925"/>
            <a:ext cx="8801100" cy="28575"/>
          </a:xfrm>
          <a:prstGeom prst="rect">
            <a:avLst/>
          </a:prstGeom>
          <a:solidFill>
            <a:srgbClr val="DDDDE1"/>
          </a:solidFill>
          <a:ln/>
        </p:spPr>
      </p:sp>
      <p:sp>
        <p:nvSpPr>
          <p:cNvPr id="25" name="Text 23"/>
          <p:cNvSpPr/>
          <p:nvPr/>
        </p:nvSpPr>
        <p:spPr>
          <a:xfrm>
            <a:off x="8288084" y="6591300"/>
            <a:ext cx="9065133" cy="5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85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及时备好电池，同时控制充电成本</a:t>
            </a:r>
            <a:endParaRPr lang="en-US" sz="2850" dirty="0"/>
          </a:p>
        </p:txBody>
      </p:sp>
      <p:sp>
        <p:nvSpPr>
          <p:cNvPr id="26" name="Text 24"/>
          <p:cNvSpPr/>
          <p:nvPr/>
        </p:nvSpPr>
        <p:spPr>
          <a:xfrm>
            <a:off x="1066800" y="8001000"/>
            <a:ext cx="1628584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7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来源：IEA《Global EV Outlook 2026》。电动汽车口径含纯电动与插电式混合动力；该规模并非可换电车辆数。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66800" y="9115425"/>
            <a:ext cx="16154400" cy="19050"/>
          </a:xfrm>
          <a:prstGeom prst="rect">
            <a:avLst/>
          </a:prstGeom>
          <a:solidFill>
            <a:srgbClr val="DDDDE1"/>
          </a:solidFill>
          <a:ln/>
        </p:spPr>
      </p:sp>
      <p:sp>
        <p:nvSpPr>
          <p:cNvPr id="28" name="Text 26"/>
          <p:cNvSpPr/>
          <p:nvPr/>
        </p:nvSpPr>
        <p:spPr>
          <a:xfrm>
            <a:off x="1066800" y="9324975"/>
            <a:ext cx="421203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高速公路预约换电 · 路径与充电联合优化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522005" y="9324975"/>
            <a:ext cx="7753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E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14300"/>
          </a:xfrm>
          <a:prstGeom prst="rect">
            <a:avLst/>
          </a:prstGeom>
          <a:solidFill>
            <a:srgbClr val="A51C30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666750"/>
            <a:ext cx="180989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引言 / 研究问题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1181100"/>
            <a:ext cx="679885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800" b="1" spc="-75" kern="0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预约路径与充电联合优化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066800" y="2162175"/>
            <a:ext cx="16154400" cy="19050"/>
          </a:xfrm>
          <a:prstGeom prst="rect">
            <a:avLst/>
          </a:prstGeom>
          <a:solidFill>
            <a:srgbClr val="DDDDE1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2619375"/>
            <a:ext cx="21717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全行程预约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324350" y="2628900"/>
            <a:ext cx="8119469" cy="5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850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起讫点 O–D ＋ 计划入口时间 ＋ 入口 SOC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4324350" y="3219450"/>
            <a:ext cx="217184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7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SOC：电池荷电状态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952625" y="4733925"/>
            <a:ext cx="14258925" cy="76200"/>
          </a:xfrm>
          <a:prstGeom prst="rect">
            <a:avLst/>
          </a:prstGeom>
          <a:solidFill>
            <a:srgbClr val="DDDDE1"/>
          </a:solidFill>
          <a:ln/>
        </p:spPr>
      </p:sp>
      <p:sp>
        <p:nvSpPr>
          <p:cNvPr id="11" name="Shape 9"/>
          <p:cNvSpPr/>
          <p:nvPr/>
        </p:nvSpPr>
        <p:spPr>
          <a:xfrm>
            <a:off x="1952625" y="4676775"/>
            <a:ext cx="14258925" cy="38100"/>
          </a:xfrm>
          <a:prstGeom prst="rect">
            <a:avLst/>
          </a:prstGeom>
          <a:solidFill>
            <a:srgbClr val="A51C30"/>
          </a:solidFill>
          <a:ln/>
        </p:spPr>
      </p:sp>
      <p:sp>
        <p:nvSpPr>
          <p:cNvPr id="12" name="Shape 10"/>
          <p:cNvSpPr/>
          <p:nvPr/>
        </p:nvSpPr>
        <p:spPr>
          <a:xfrm>
            <a:off x="1524000" y="4295775"/>
            <a:ext cx="895350" cy="89535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DDDD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33525" y="4343400"/>
            <a:ext cx="876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7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4438650" y="4295775"/>
            <a:ext cx="895350" cy="895350"/>
          </a:xfrm>
          <a:prstGeom prst="ellipse">
            <a:avLst/>
          </a:prstGeom>
          <a:solidFill>
            <a:srgbClr val="A51C30"/>
          </a:solidFill>
          <a:ln w="47625">
            <a:solidFill>
              <a:srgbClr val="A51C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48175" y="4343400"/>
            <a:ext cx="876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7353300" y="4295775"/>
            <a:ext cx="895350" cy="89535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DDDD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2825" y="4343400"/>
            <a:ext cx="876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7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3300" dirty="0"/>
          </a:p>
        </p:txBody>
      </p:sp>
      <p:sp>
        <p:nvSpPr>
          <p:cNvPr id="18" name="Shape 16"/>
          <p:cNvSpPr/>
          <p:nvPr/>
        </p:nvSpPr>
        <p:spPr>
          <a:xfrm>
            <a:off x="10267950" y="4295775"/>
            <a:ext cx="895350" cy="895350"/>
          </a:xfrm>
          <a:prstGeom prst="ellipse">
            <a:avLst/>
          </a:prstGeom>
          <a:solidFill>
            <a:srgbClr val="A51C30"/>
          </a:solidFill>
          <a:ln w="47625">
            <a:solidFill>
              <a:srgbClr val="A51C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77475" y="4343400"/>
            <a:ext cx="876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300" dirty="0"/>
          </a:p>
        </p:txBody>
      </p:sp>
      <p:sp>
        <p:nvSpPr>
          <p:cNvPr id="20" name="Shape 18"/>
          <p:cNvSpPr/>
          <p:nvPr/>
        </p:nvSpPr>
        <p:spPr>
          <a:xfrm>
            <a:off x="13182600" y="4295775"/>
            <a:ext cx="895350" cy="89535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DDDD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192125" y="4343400"/>
            <a:ext cx="876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7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3300" dirty="0"/>
          </a:p>
        </p:txBody>
      </p:sp>
      <p:sp>
        <p:nvSpPr>
          <p:cNvPr id="22" name="Shape 20"/>
          <p:cNvSpPr/>
          <p:nvPr/>
        </p:nvSpPr>
        <p:spPr>
          <a:xfrm>
            <a:off x="16078200" y="4295775"/>
            <a:ext cx="895350" cy="89535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DDDD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087725" y="4343400"/>
            <a:ext cx="876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7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43000" y="5486400"/>
            <a:ext cx="16192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入口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4133850" y="5486400"/>
            <a:ext cx="15049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换电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7048500" y="5486400"/>
            <a:ext cx="15049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7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经过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9963150" y="5486400"/>
            <a:ext cx="15049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换电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2877800" y="5486400"/>
            <a:ext cx="15049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7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经过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5773400" y="5486400"/>
            <a:ext cx="15049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出口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3811250" y="3695700"/>
            <a:ext cx="291747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7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示意路径：O → A → C → E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66800" y="6524625"/>
            <a:ext cx="7000875" cy="1428750"/>
          </a:xfrm>
          <a:prstGeom prst="rect">
            <a:avLst/>
          </a:prstGeom>
          <a:solidFill>
            <a:srgbClr val="F8EFF0"/>
          </a:solidFill>
          <a:ln/>
        </p:spPr>
      </p:sp>
      <p:sp>
        <p:nvSpPr>
          <p:cNvPr id="32" name="Text 30"/>
          <p:cNvSpPr/>
          <p:nvPr/>
        </p:nvSpPr>
        <p:spPr>
          <a:xfrm>
            <a:off x="1428750" y="6753225"/>
            <a:ext cx="17526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换电路径</a:t>
            </a:r>
            <a:endParaRPr lang="en-US" sz="3300" dirty="0"/>
          </a:p>
        </p:txBody>
      </p:sp>
      <p:sp>
        <p:nvSpPr>
          <p:cNvPr id="33" name="Text 31"/>
          <p:cNvSpPr/>
          <p:nvPr/>
        </p:nvSpPr>
        <p:spPr>
          <a:xfrm>
            <a:off x="1428750" y="7362825"/>
            <a:ext cx="500348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在哪些站换电？形成怎样的站点需求？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8810625" y="6943725"/>
            <a:ext cx="42743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3300" dirty="0"/>
          </a:p>
        </p:txBody>
      </p:sp>
      <p:sp>
        <p:nvSpPr>
          <p:cNvPr id="35" name="Shape 33"/>
          <p:cNvSpPr/>
          <p:nvPr/>
        </p:nvSpPr>
        <p:spPr>
          <a:xfrm>
            <a:off x="9867900" y="6524625"/>
            <a:ext cx="7353300" cy="1428750"/>
          </a:xfrm>
          <a:prstGeom prst="rect">
            <a:avLst/>
          </a:prstGeom>
          <a:solidFill>
            <a:srgbClr val="F5F5F6"/>
          </a:solidFill>
          <a:ln/>
        </p:spPr>
      </p:sp>
      <p:sp>
        <p:nvSpPr>
          <p:cNvPr id="36" name="Text 34"/>
          <p:cNvSpPr/>
          <p:nvPr/>
        </p:nvSpPr>
        <p:spPr>
          <a:xfrm>
            <a:off x="10229850" y="6753225"/>
            <a:ext cx="25908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站内充电计划</a:t>
            </a:r>
            <a:endParaRPr lang="en-US" sz="3300" dirty="0"/>
          </a:p>
        </p:txBody>
      </p:sp>
      <p:sp>
        <p:nvSpPr>
          <p:cNvPr id="37" name="Text 35"/>
          <p:cNvSpPr/>
          <p:nvPr/>
        </p:nvSpPr>
        <p:spPr>
          <a:xfrm>
            <a:off x="10229850" y="7362825"/>
            <a:ext cx="58864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何时充、充多少？到站时能否提供满电电池？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824484" y="8334375"/>
            <a:ext cx="1663903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联合目标：协调服务可靠性与运营净收益</a:t>
            </a:r>
            <a:endParaRPr lang="en-US" sz="2250" dirty="0"/>
          </a:p>
        </p:txBody>
      </p:sp>
      <p:sp>
        <p:nvSpPr>
          <p:cNvPr id="39" name="Shape 37"/>
          <p:cNvSpPr/>
          <p:nvPr/>
        </p:nvSpPr>
        <p:spPr>
          <a:xfrm>
            <a:off x="1066800" y="9115425"/>
            <a:ext cx="16154400" cy="19050"/>
          </a:xfrm>
          <a:prstGeom prst="rect">
            <a:avLst/>
          </a:prstGeom>
          <a:solidFill>
            <a:srgbClr val="DDDDE1"/>
          </a:solidFill>
          <a:ln/>
        </p:spPr>
      </p:sp>
      <p:sp>
        <p:nvSpPr>
          <p:cNvPr id="40" name="Text 38"/>
          <p:cNvSpPr/>
          <p:nvPr/>
        </p:nvSpPr>
        <p:spPr>
          <a:xfrm>
            <a:off x="1066800" y="9324975"/>
            <a:ext cx="421203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高速公路预约换电 · 路径与充电联合优化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6522005" y="9324975"/>
            <a:ext cx="7753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06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E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14300"/>
          </a:xfrm>
          <a:prstGeom prst="rect">
            <a:avLst/>
          </a:prstGeom>
          <a:solidFill>
            <a:srgbClr val="A51C30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666750"/>
            <a:ext cx="180989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引言 / 动态决策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1181100"/>
            <a:ext cx="679885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800" b="1" spc="-75" kern="0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滚动更新路径与充电计划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066800" y="2162175"/>
            <a:ext cx="16154400" cy="19050"/>
          </a:xfrm>
          <a:prstGeom prst="rect">
            <a:avLst/>
          </a:prstGeom>
          <a:solidFill>
            <a:srgbClr val="DDDDE1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2686050"/>
            <a:ext cx="15049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不确定信息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429000" y="2657475"/>
            <a:ext cx="3459056" cy="5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850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入口时间 / SOC 偏差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8591550" y="2657475"/>
            <a:ext cx="2982468" cy="5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850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站间旅行时间变化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3373100" y="2657475"/>
            <a:ext cx="2247900" cy="5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850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随机到站需求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066800" y="3990975"/>
            <a:ext cx="9334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当前轮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066800" y="5429250"/>
            <a:ext cx="9334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7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下一轮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3924300" y="3524250"/>
            <a:ext cx="15049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仅执行首段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3905250" y="4048125"/>
            <a:ext cx="1647825" cy="838200"/>
          </a:xfrm>
          <a:prstGeom prst="rect">
            <a:avLst/>
          </a:prstGeom>
          <a:solidFill>
            <a:srgbClr val="A51C30"/>
          </a:solidFill>
          <a:ln/>
        </p:spPr>
      </p:sp>
      <p:sp>
        <p:nvSpPr>
          <p:cNvPr id="15" name="Shape 13"/>
          <p:cNvSpPr/>
          <p:nvPr/>
        </p:nvSpPr>
        <p:spPr>
          <a:xfrm>
            <a:off x="5600700" y="4048125"/>
            <a:ext cx="1647825" cy="838200"/>
          </a:xfrm>
          <a:prstGeom prst="rect">
            <a:avLst/>
          </a:prstGeom>
          <a:solidFill>
            <a:srgbClr val="E9B9C0"/>
          </a:solidFill>
          <a:ln/>
        </p:spPr>
      </p:sp>
      <p:sp>
        <p:nvSpPr>
          <p:cNvPr id="16" name="Shape 14"/>
          <p:cNvSpPr/>
          <p:nvPr/>
        </p:nvSpPr>
        <p:spPr>
          <a:xfrm>
            <a:off x="7296150" y="4048125"/>
            <a:ext cx="1647825" cy="838200"/>
          </a:xfrm>
          <a:prstGeom prst="rect">
            <a:avLst/>
          </a:prstGeom>
          <a:solidFill>
            <a:srgbClr val="E9B9C0"/>
          </a:solidFill>
          <a:ln/>
        </p:spPr>
      </p:sp>
      <p:sp>
        <p:nvSpPr>
          <p:cNvPr id="17" name="Shape 15"/>
          <p:cNvSpPr/>
          <p:nvPr/>
        </p:nvSpPr>
        <p:spPr>
          <a:xfrm>
            <a:off x="8991600" y="4048125"/>
            <a:ext cx="1647825" cy="838200"/>
          </a:xfrm>
          <a:prstGeom prst="rect">
            <a:avLst/>
          </a:prstGeom>
          <a:solidFill>
            <a:srgbClr val="E9B9C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687050" y="4048125"/>
            <a:ext cx="1647825" cy="838200"/>
          </a:xfrm>
          <a:prstGeom prst="rect">
            <a:avLst/>
          </a:prstGeom>
          <a:solidFill>
            <a:srgbClr val="E9B9C0"/>
          </a:solidFill>
          <a:ln/>
        </p:spPr>
      </p:sp>
      <p:sp>
        <p:nvSpPr>
          <p:cNvPr id="19" name="Shape 17"/>
          <p:cNvSpPr/>
          <p:nvPr/>
        </p:nvSpPr>
        <p:spPr>
          <a:xfrm>
            <a:off x="12382500" y="4048125"/>
            <a:ext cx="1647825" cy="838200"/>
          </a:xfrm>
          <a:prstGeom prst="rect">
            <a:avLst/>
          </a:prstGeom>
          <a:solidFill>
            <a:srgbClr val="E9B9C0"/>
          </a:solidFill>
          <a:ln/>
        </p:spPr>
      </p:sp>
      <p:sp>
        <p:nvSpPr>
          <p:cNvPr id="20" name="Text 18"/>
          <p:cNvSpPr/>
          <p:nvPr/>
        </p:nvSpPr>
        <p:spPr>
          <a:xfrm>
            <a:off x="14525625" y="4238625"/>
            <a:ext cx="187017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预测未来 H 段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5600700" y="5486400"/>
            <a:ext cx="1647825" cy="838200"/>
          </a:xfrm>
          <a:prstGeom prst="rect">
            <a:avLst/>
          </a:prstGeom>
          <a:solidFill>
            <a:srgbClr val="A51C30"/>
          </a:solidFill>
          <a:ln/>
        </p:spPr>
      </p:sp>
      <p:sp>
        <p:nvSpPr>
          <p:cNvPr id="22" name="Shape 20"/>
          <p:cNvSpPr/>
          <p:nvPr/>
        </p:nvSpPr>
        <p:spPr>
          <a:xfrm>
            <a:off x="7296150" y="5486400"/>
            <a:ext cx="1647825" cy="838200"/>
          </a:xfrm>
          <a:prstGeom prst="rect">
            <a:avLst/>
          </a:prstGeom>
          <a:solidFill>
            <a:srgbClr val="E9B9C0"/>
          </a:solidFill>
          <a:ln/>
        </p:spPr>
      </p:sp>
      <p:sp>
        <p:nvSpPr>
          <p:cNvPr id="23" name="Shape 21"/>
          <p:cNvSpPr/>
          <p:nvPr/>
        </p:nvSpPr>
        <p:spPr>
          <a:xfrm>
            <a:off x="8991600" y="5486400"/>
            <a:ext cx="1647825" cy="838200"/>
          </a:xfrm>
          <a:prstGeom prst="rect">
            <a:avLst/>
          </a:prstGeom>
          <a:solidFill>
            <a:srgbClr val="E9B9C0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87050" y="5486400"/>
            <a:ext cx="1647825" cy="838200"/>
          </a:xfrm>
          <a:prstGeom prst="rect">
            <a:avLst/>
          </a:prstGeom>
          <a:solidFill>
            <a:srgbClr val="E9B9C0"/>
          </a:solidFill>
          <a:ln/>
        </p:spPr>
      </p:sp>
      <p:sp>
        <p:nvSpPr>
          <p:cNvPr id="25" name="Shape 23"/>
          <p:cNvSpPr/>
          <p:nvPr/>
        </p:nvSpPr>
        <p:spPr>
          <a:xfrm>
            <a:off x="12382500" y="5486400"/>
            <a:ext cx="1647825" cy="838200"/>
          </a:xfrm>
          <a:prstGeom prst="rect">
            <a:avLst/>
          </a:prstGeom>
          <a:solidFill>
            <a:srgbClr val="E9B9C0"/>
          </a:solidFill>
          <a:ln/>
        </p:spPr>
      </p:sp>
      <p:sp>
        <p:nvSpPr>
          <p:cNvPr id="26" name="Shape 24"/>
          <p:cNvSpPr/>
          <p:nvPr/>
        </p:nvSpPr>
        <p:spPr>
          <a:xfrm>
            <a:off x="14077950" y="5486400"/>
            <a:ext cx="1647825" cy="838200"/>
          </a:xfrm>
          <a:prstGeom prst="rect">
            <a:avLst/>
          </a:prstGeom>
          <a:solidFill>
            <a:srgbClr val="E9B9C0"/>
          </a:solidFill>
          <a:ln/>
        </p:spPr>
      </p:sp>
      <p:sp>
        <p:nvSpPr>
          <p:cNvPr id="27" name="Text 25"/>
          <p:cNvSpPr/>
          <p:nvPr/>
        </p:nvSpPr>
        <p:spPr>
          <a:xfrm>
            <a:off x="3914775" y="6562725"/>
            <a:ext cx="13975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7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95925" y="6562725"/>
            <a:ext cx="52744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7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+ 1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649325" y="6562725"/>
            <a:ext cx="56539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7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+ H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24484" y="7439025"/>
            <a:ext cx="16639032" cy="5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85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观测更新 → 联合优化 → 执行首段 → 窗口前移</a:t>
            </a:r>
            <a:endParaRPr lang="en-US" sz="2850" dirty="0"/>
          </a:p>
        </p:txBody>
      </p:sp>
      <p:sp>
        <p:nvSpPr>
          <p:cNvPr id="31" name="Text 29"/>
          <p:cNvSpPr/>
          <p:nvPr/>
        </p:nvSpPr>
        <p:spPr>
          <a:xfrm>
            <a:off x="824484" y="8143875"/>
            <a:ext cx="1663903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7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充电频繁更新；换电路径按较低频率调整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1066800" y="9115425"/>
            <a:ext cx="16154400" cy="19050"/>
          </a:xfrm>
          <a:prstGeom prst="rect">
            <a:avLst/>
          </a:prstGeom>
          <a:solidFill>
            <a:srgbClr val="DDDDE1"/>
          </a:solidFill>
          <a:ln/>
        </p:spPr>
      </p:sp>
      <p:sp>
        <p:nvSpPr>
          <p:cNvPr id="33" name="Text 31"/>
          <p:cNvSpPr/>
          <p:nvPr/>
        </p:nvSpPr>
        <p:spPr>
          <a:xfrm>
            <a:off x="1066800" y="9324975"/>
            <a:ext cx="421203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高速公路预约换电 · 路径与充电联合优化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6522005" y="9324975"/>
            <a:ext cx="7753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06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E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14300"/>
          </a:xfrm>
          <a:prstGeom prst="rect">
            <a:avLst/>
          </a:prstGeom>
          <a:solidFill>
            <a:srgbClr val="A51C30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666750"/>
            <a:ext cx="306110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引言 / 末端效应与处理方法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1181100"/>
            <a:ext cx="6180773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800" b="1" spc="-75" kern="0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终端资源与未完成服务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066800" y="2162175"/>
            <a:ext cx="16154400" cy="19050"/>
          </a:xfrm>
          <a:prstGeom prst="rect">
            <a:avLst/>
          </a:prstGeom>
          <a:solidFill>
            <a:srgbClr val="DDDDE1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2667000"/>
            <a:ext cx="4868431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b="1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电池仍有后续服务价值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9620250" y="2667000"/>
            <a:ext cx="616345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b="1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已安排的服务可能跨越预测域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8934450" y="2686050"/>
            <a:ext cx="19050" cy="3524250"/>
          </a:xfrm>
          <a:prstGeom prst="rect">
            <a:avLst/>
          </a:prstGeom>
          <a:solidFill>
            <a:srgbClr val="DDDDE1"/>
          </a:solidFill>
          <a:ln/>
        </p:spPr>
      </p:sp>
      <p:sp>
        <p:nvSpPr>
          <p:cNvPr id="10" name="Text 8"/>
          <p:cNvSpPr/>
          <p:nvPr/>
        </p:nvSpPr>
        <p:spPr>
          <a:xfrm>
            <a:off x="1247775" y="3476625"/>
            <a:ext cx="1219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7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预测终点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285875" y="4276725"/>
            <a:ext cx="666750" cy="11430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38100">
            <a:solidFill>
              <a:srgbClr val="A51C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1125" y="5086350"/>
            <a:ext cx="476250" cy="238125"/>
          </a:xfrm>
          <a:prstGeom prst="rect">
            <a:avLst/>
          </a:prstGeom>
          <a:solidFill>
            <a:srgbClr val="A51C30"/>
          </a:solidFill>
          <a:ln/>
        </p:spPr>
      </p:sp>
      <p:sp>
        <p:nvSpPr>
          <p:cNvPr id="13" name="Shape 11"/>
          <p:cNvSpPr/>
          <p:nvPr/>
        </p:nvSpPr>
        <p:spPr>
          <a:xfrm>
            <a:off x="2324100" y="4276725"/>
            <a:ext cx="666750" cy="11430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38100">
            <a:solidFill>
              <a:srgbClr val="A51C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19350" y="5238750"/>
            <a:ext cx="476250" cy="85725"/>
          </a:xfrm>
          <a:prstGeom prst="rect">
            <a:avLst/>
          </a:prstGeom>
          <a:solidFill>
            <a:srgbClr val="A51C30"/>
          </a:solidFill>
          <a:ln/>
        </p:spPr>
      </p:sp>
      <p:sp>
        <p:nvSpPr>
          <p:cNvPr id="15" name="Shape 13"/>
          <p:cNvSpPr/>
          <p:nvPr/>
        </p:nvSpPr>
        <p:spPr>
          <a:xfrm>
            <a:off x="3362325" y="4276725"/>
            <a:ext cx="666750" cy="11430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38100">
            <a:solidFill>
              <a:srgbClr val="A51C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57575" y="5238750"/>
            <a:ext cx="476250" cy="85725"/>
          </a:xfrm>
          <a:prstGeom prst="rect">
            <a:avLst/>
          </a:prstGeom>
          <a:solidFill>
            <a:srgbClr val="A51C30"/>
          </a:solidFill>
          <a:ln/>
        </p:spPr>
      </p:sp>
      <p:sp>
        <p:nvSpPr>
          <p:cNvPr id="17" name="Text 15"/>
          <p:cNvSpPr/>
          <p:nvPr/>
        </p:nvSpPr>
        <p:spPr>
          <a:xfrm>
            <a:off x="4591050" y="4257675"/>
            <a:ext cx="2982468" cy="5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85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可能过度消耗库存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4591050" y="4857750"/>
            <a:ext cx="2362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或推迟必要的充电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47775" y="5800725"/>
            <a:ext cx="440839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7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需要评价终端 SOC 分布及其满电供应能力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715500" y="3924300"/>
            <a:ext cx="4591050" cy="1104900"/>
          </a:xfrm>
          <a:prstGeom prst="rect">
            <a:avLst/>
          </a:prstGeom>
          <a:solidFill>
            <a:srgbClr val="F8EFF0"/>
          </a:solidFill>
          <a:ln/>
        </p:spPr>
      </p:sp>
      <p:sp>
        <p:nvSpPr>
          <p:cNvPr id="21" name="Text 19"/>
          <p:cNvSpPr/>
          <p:nvPr/>
        </p:nvSpPr>
        <p:spPr>
          <a:xfrm>
            <a:off x="9646634" y="4257675"/>
            <a:ext cx="472878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当前预测域 [0, H)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4306550" y="3676650"/>
            <a:ext cx="28575" cy="1676400"/>
          </a:xfrm>
          <a:prstGeom prst="rect">
            <a:avLst/>
          </a:prstGeom>
          <a:solidFill>
            <a:srgbClr val="A51C30"/>
          </a:solidFill>
          <a:ln/>
        </p:spPr>
      </p:sp>
      <p:sp>
        <p:nvSpPr>
          <p:cNvPr id="23" name="Text 21"/>
          <p:cNvSpPr/>
          <p:nvPr/>
        </p:nvSpPr>
        <p:spPr>
          <a:xfrm>
            <a:off x="14173200" y="5419725"/>
            <a:ext cx="28262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4335125" y="4467225"/>
            <a:ext cx="2057400" cy="38100"/>
          </a:xfrm>
          <a:prstGeom prst="rect">
            <a:avLst/>
          </a:prstGeom>
          <a:solidFill>
            <a:srgbClr val="A51C30"/>
          </a:solidFill>
          <a:ln/>
        </p:spPr>
      </p:sp>
      <p:sp>
        <p:nvSpPr>
          <p:cNvPr id="25" name="Shape 23"/>
          <p:cNvSpPr/>
          <p:nvPr/>
        </p:nvSpPr>
        <p:spPr>
          <a:xfrm>
            <a:off x="16040100" y="4029075"/>
            <a:ext cx="895350" cy="895350"/>
          </a:xfrm>
          <a:prstGeom prst="ellipse">
            <a:avLst/>
          </a:prstGeom>
          <a:solidFill>
            <a:srgbClr val="A51C30"/>
          </a:solidFill>
          <a:ln w="47625">
            <a:solidFill>
              <a:srgbClr val="A51C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049625" y="4076700"/>
            <a:ext cx="876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300" dirty="0"/>
          </a:p>
        </p:txBody>
      </p:sp>
      <p:sp>
        <p:nvSpPr>
          <p:cNvPr id="27" name="Text 25"/>
          <p:cNvSpPr/>
          <p:nvPr/>
        </p:nvSpPr>
        <p:spPr>
          <a:xfrm>
            <a:off x="15630525" y="5286375"/>
            <a:ext cx="16764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+ 3 到达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9715500" y="5905500"/>
            <a:ext cx="494461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7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域外的电池消耗与服务义务，也由当前路径决定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66800" y="6534150"/>
            <a:ext cx="16154400" cy="28575"/>
          </a:xfrm>
          <a:prstGeom prst="rect">
            <a:avLst/>
          </a:prstGeom>
          <a:solidFill>
            <a:srgbClr val="DDDDE1"/>
          </a:solidFill>
          <a:ln/>
        </p:spPr>
      </p:sp>
      <p:sp>
        <p:nvSpPr>
          <p:cNvPr id="30" name="Text 28"/>
          <p:cNvSpPr/>
          <p:nvPr/>
        </p:nvSpPr>
        <p:spPr>
          <a:xfrm>
            <a:off x="1066800" y="7000875"/>
            <a:ext cx="17907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终端价值估计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3814858" y="6953250"/>
            <a:ext cx="359073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终端 SOC 分布</a:t>
            </a:r>
            <a:endParaRPr lang="en-US" sz="22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 未完成服务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7667625" y="716280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33" name="Text 31"/>
          <p:cNvSpPr/>
          <p:nvPr/>
        </p:nvSpPr>
        <p:spPr>
          <a:xfrm>
            <a:off x="8315325" y="6953250"/>
            <a:ext cx="392430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学习</a:t>
            </a:r>
            <a:endParaRPr lang="en-US" sz="22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后续累计净收益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12601575" y="716280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35" name="Text 33"/>
          <p:cNvSpPr/>
          <p:nvPr/>
        </p:nvSpPr>
        <p:spPr>
          <a:xfrm>
            <a:off x="13344382" y="6953250"/>
            <a:ext cx="3934111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分段线性价值函数</a:t>
            </a:r>
            <a:endParaRPr lang="en-US" sz="22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嵌入滚动优化模型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824484" y="8191500"/>
            <a:ext cx="1663903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7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有限预测域内，同时评价当期收益与留给未来的运营状态</a:t>
            </a:r>
            <a:endParaRPr lang="en-US" sz="2250" dirty="0"/>
          </a:p>
        </p:txBody>
      </p:sp>
      <p:sp>
        <p:nvSpPr>
          <p:cNvPr id="37" name="Shape 35"/>
          <p:cNvSpPr/>
          <p:nvPr/>
        </p:nvSpPr>
        <p:spPr>
          <a:xfrm>
            <a:off x="1066800" y="9115425"/>
            <a:ext cx="16154400" cy="19050"/>
          </a:xfrm>
          <a:prstGeom prst="rect">
            <a:avLst/>
          </a:prstGeom>
          <a:solidFill>
            <a:srgbClr val="DDDDE1"/>
          </a:solidFill>
          <a:ln/>
        </p:spPr>
      </p:sp>
      <p:sp>
        <p:nvSpPr>
          <p:cNvPr id="38" name="Text 36"/>
          <p:cNvSpPr/>
          <p:nvPr/>
        </p:nvSpPr>
        <p:spPr>
          <a:xfrm>
            <a:off x="1066800" y="9324975"/>
            <a:ext cx="421203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高速公路预约换电 · 路径与充电联合优化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6522005" y="9324975"/>
            <a:ext cx="7753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06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E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14300"/>
          </a:xfrm>
          <a:prstGeom prst="rect">
            <a:avLst/>
          </a:prstGeom>
          <a:solidFill>
            <a:srgbClr val="A51C30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666750"/>
            <a:ext cx="180989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引言 / 研究贡献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1181100"/>
            <a:ext cx="6180773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800" b="1" spc="-75" kern="0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模型、方法与管理分析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066800" y="2162175"/>
            <a:ext cx="16154400" cy="19050"/>
          </a:xfrm>
          <a:prstGeom prst="rect">
            <a:avLst/>
          </a:prstGeom>
          <a:solidFill>
            <a:srgbClr val="DDDDE1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2705100"/>
            <a:ext cx="754261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543175" y="2790825"/>
            <a:ext cx="25908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b="1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联合优化建模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029450" y="2781300"/>
            <a:ext cx="6710553" cy="5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850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统一全程换电路径、站内充电与服务约束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2543175" y="3857625"/>
            <a:ext cx="14678025" cy="28575"/>
          </a:xfrm>
          <a:prstGeom prst="rect">
            <a:avLst/>
          </a:prstGeom>
          <a:solidFill>
            <a:srgbClr val="DDDDE1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4219575"/>
            <a:ext cx="754261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543175" y="4305300"/>
            <a:ext cx="25908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b="1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动态滚动决策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7029450" y="4295775"/>
            <a:ext cx="7083362" cy="5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850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实时更新信息，以不同频率调整路径和充电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2543175" y="5372100"/>
            <a:ext cx="14678025" cy="28575"/>
          </a:xfrm>
          <a:prstGeom prst="rect">
            <a:avLst/>
          </a:prstGeom>
          <a:solidFill>
            <a:srgbClr val="DDDDE1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800" y="5734050"/>
            <a:ext cx="754261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2543175" y="5819775"/>
            <a:ext cx="25908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b="1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学习终端价值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7029450" y="5810250"/>
            <a:ext cx="6710553" cy="5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850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联合评价终端电池状态与域外未完成服务</a:t>
            </a:r>
            <a:endParaRPr lang="en-US" sz="2850" dirty="0"/>
          </a:p>
        </p:txBody>
      </p:sp>
      <p:sp>
        <p:nvSpPr>
          <p:cNvPr id="18" name="Shape 16"/>
          <p:cNvSpPr/>
          <p:nvPr/>
        </p:nvSpPr>
        <p:spPr>
          <a:xfrm>
            <a:off x="2543175" y="6886575"/>
            <a:ext cx="14678025" cy="28575"/>
          </a:xfrm>
          <a:prstGeom prst="rect">
            <a:avLst/>
          </a:prstGeom>
          <a:solidFill>
            <a:srgbClr val="DDDDE1"/>
          </a:solidFill>
          <a:ln/>
        </p:spPr>
      </p:sp>
      <p:sp>
        <p:nvSpPr>
          <p:cNvPr id="19" name="Text 17"/>
          <p:cNvSpPr/>
          <p:nvPr/>
        </p:nvSpPr>
        <p:spPr>
          <a:xfrm>
            <a:off x="1066800" y="7248525"/>
            <a:ext cx="754261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2543175" y="7334250"/>
            <a:ext cx="25908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b="1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运营管理分析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7029450" y="7324725"/>
            <a:ext cx="6710553" cy="5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850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分析预约服务的适用边界与电池库存配置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7029450" y="7981950"/>
            <a:ext cx="376732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7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研究目标；具体管理结论待实验验证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66800" y="9115425"/>
            <a:ext cx="16154400" cy="19050"/>
          </a:xfrm>
          <a:prstGeom prst="rect">
            <a:avLst/>
          </a:prstGeom>
          <a:solidFill>
            <a:srgbClr val="DDDDE1"/>
          </a:solidFill>
          <a:ln/>
        </p:spPr>
      </p:sp>
      <p:sp>
        <p:nvSpPr>
          <p:cNvPr id="24" name="Text 22"/>
          <p:cNvSpPr/>
          <p:nvPr/>
        </p:nvSpPr>
        <p:spPr>
          <a:xfrm>
            <a:off x="1066800" y="9324975"/>
            <a:ext cx="421203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高速公路预约换电 · 路径与充电联合优化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522005" y="9324975"/>
            <a:ext cx="7753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06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E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14300"/>
          </a:xfrm>
          <a:prstGeom prst="rect">
            <a:avLst/>
          </a:prstGeom>
          <a:solidFill>
            <a:srgbClr val="A51C30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666750"/>
            <a:ext cx="180989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引言 / 文章结构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1181100"/>
            <a:ext cx="6180773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800" b="1" spc="-75" kern="0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从运营场景到数值验证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066800" y="2162175"/>
            <a:ext cx="16154400" cy="19050"/>
          </a:xfrm>
          <a:prstGeom prst="rect">
            <a:avLst/>
          </a:prstGeom>
          <a:solidFill>
            <a:srgbClr val="DDDDE1"/>
          </a:solidFill>
          <a:ln/>
        </p:spPr>
      </p:sp>
      <p:sp>
        <p:nvSpPr>
          <p:cNvPr id="7" name="Shape 5"/>
          <p:cNvSpPr/>
          <p:nvPr/>
        </p:nvSpPr>
        <p:spPr>
          <a:xfrm>
            <a:off x="1066800" y="2876550"/>
            <a:ext cx="5200650" cy="5343525"/>
          </a:xfrm>
          <a:prstGeom prst="rect">
            <a:avLst/>
          </a:prstGeom>
          <a:solidFill>
            <a:srgbClr val="A51C30"/>
          </a:solidFill>
          <a:ln/>
        </p:spPr>
      </p:sp>
      <p:sp>
        <p:nvSpPr>
          <p:cNvPr id="8" name="Text 6"/>
          <p:cNvSpPr/>
          <p:nvPr/>
        </p:nvSpPr>
        <p:spPr>
          <a:xfrm>
            <a:off x="1581150" y="3371850"/>
            <a:ext cx="1219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F1DA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后续内容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581150" y="4267200"/>
            <a:ext cx="2590800" cy="2300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场景与模型</a:t>
            </a:r>
            <a:endParaRPr lang="en-US" sz="3300" dirty="0"/>
          </a:p>
          <a:p>
            <a:pPr algn="l" indent="0" marL="0">
              <a:lnSpc>
                <a:spcPct val="18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终端价值学习</a:t>
            </a:r>
            <a:endParaRPr lang="en-US" sz="3300" dirty="0"/>
          </a:p>
          <a:p>
            <a:pPr algn="l" indent="0" marL="0">
              <a:lnSpc>
                <a:spcPct val="18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实验与结论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581150" y="7277100"/>
            <a:ext cx="264890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F1DA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下一部分：问题描述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7724775" y="3200400"/>
            <a:ext cx="28575" cy="4524375"/>
          </a:xfrm>
          <a:prstGeom prst="rect">
            <a:avLst/>
          </a:prstGeom>
          <a:solidFill>
            <a:srgbClr val="DDDDE1"/>
          </a:solidFill>
          <a:ln/>
        </p:spPr>
      </p:sp>
      <p:sp>
        <p:nvSpPr>
          <p:cNvPr id="12" name="Shape 10"/>
          <p:cNvSpPr/>
          <p:nvPr/>
        </p:nvSpPr>
        <p:spPr>
          <a:xfrm>
            <a:off x="7600950" y="3152775"/>
            <a:ext cx="276225" cy="276225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13" name="Text 11"/>
          <p:cNvSpPr/>
          <p:nvPr/>
        </p:nvSpPr>
        <p:spPr>
          <a:xfrm>
            <a:off x="8277225" y="3028950"/>
            <a:ext cx="96544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2 节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0287000" y="2962275"/>
            <a:ext cx="3355277" cy="5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850" b="1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问题描述与基本假设</a:t>
            </a:r>
            <a:endParaRPr lang="en-US" sz="2850" dirty="0"/>
          </a:p>
        </p:txBody>
      </p:sp>
      <p:sp>
        <p:nvSpPr>
          <p:cNvPr id="15" name="Shape 13"/>
          <p:cNvSpPr/>
          <p:nvPr/>
        </p:nvSpPr>
        <p:spPr>
          <a:xfrm>
            <a:off x="7620000" y="4286250"/>
            <a:ext cx="238125" cy="238125"/>
          </a:xfrm>
          <a:prstGeom prst="ellipse">
            <a:avLst/>
          </a:prstGeom>
          <a:solidFill>
            <a:srgbClr val="C88590"/>
          </a:solidFill>
          <a:ln/>
        </p:spPr>
      </p:sp>
      <p:sp>
        <p:nvSpPr>
          <p:cNvPr id="16" name="Text 14"/>
          <p:cNvSpPr/>
          <p:nvPr/>
        </p:nvSpPr>
        <p:spPr>
          <a:xfrm>
            <a:off x="8277225" y="4162425"/>
            <a:ext cx="96544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 节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0287000" y="4095750"/>
            <a:ext cx="1524000" cy="5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850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模型建立</a:t>
            </a:r>
            <a:endParaRPr lang="en-US" sz="2850" dirty="0"/>
          </a:p>
        </p:txBody>
      </p:sp>
      <p:sp>
        <p:nvSpPr>
          <p:cNvPr id="18" name="Shape 16"/>
          <p:cNvSpPr/>
          <p:nvPr/>
        </p:nvSpPr>
        <p:spPr>
          <a:xfrm>
            <a:off x="7620000" y="5419725"/>
            <a:ext cx="238125" cy="238125"/>
          </a:xfrm>
          <a:prstGeom prst="ellipse">
            <a:avLst/>
          </a:prstGeom>
          <a:solidFill>
            <a:srgbClr val="C88590"/>
          </a:solidFill>
          <a:ln/>
        </p:spPr>
      </p:sp>
      <p:sp>
        <p:nvSpPr>
          <p:cNvPr id="19" name="Text 17"/>
          <p:cNvSpPr/>
          <p:nvPr/>
        </p:nvSpPr>
        <p:spPr>
          <a:xfrm>
            <a:off x="8277225" y="5295900"/>
            <a:ext cx="96544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4 节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0287000" y="5229225"/>
            <a:ext cx="2247900" cy="5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850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终端价值学习</a:t>
            </a:r>
            <a:endParaRPr lang="en-US" sz="2850" dirty="0"/>
          </a:p>
        </p:txBody>
      </p:sp>
      <p:sp>
        <p:nvSpPr>
          <p:cNvPr id="21" name="Shape 19"/>
          <p:cNvSpPr/>
          <p:nvPr/>
        </p:nvSpPr>
        <p:spPr>
          <a:xfrm>
            <a:off x="7620000" y="6553200"/>
            <a:ext cx="238125" cy="238125"/>
          </a:xfrm>
          <a:prstGeom prst="ellipse">
            <a:avLst/>
          </a:prstGeom>
          <a:solidFill>
            <a:srgbClr val="C88590"/>
          </a:solidFill>
          <a:ln/>
        </p:spPr>
      </p:sp>
      <p:sp>
        <p:nvSpPr>
          <p:cNvPr id="22" name="Text 20"/>
          <p:cNvSpPr/>
          <p:nvPr/>
        </p:nvSpPr>
        <p:spPr>
          <a:xfrm>
            <a:off x="8277225" y="6429375"/>
            <a:ext cx="96544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5 节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0287000" y="6362700"/>
            <a:ext cx="1524000" cy="5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850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数值实验</a:t>
            </a:r>
            <a:endParaRPr lang="en-US" sz="2850" dirty="0"/>
          </a:p>
        </p:txBody>
      </p:sp>
      <p:sp>
        <p:nvSpPr>
          <p:cNvPr id="24" name="Shape 22"/>
          <p:cNvSpPr/>
          <p:nvPr/>
        </p:nvSpPr>
        <p:spPr>
          <a:xfrm>
            <a:off x="7620000" y="7686675"/>
            <a:ext cx="238125" cy="238125"/>
          </a:xfrm>
          <a:prstGeom prst="ellipse">
            <a:avLst/>
          </a:prstGeom>
          <a:solidFill>
            <a:srgbClr val="C88590"/>
          </a:solidFill>
          <a:ln/>
        </p:spPr>
      </p:sp>
      <p:sp>
        <p:nvSpPr>
          <p:cNvPr id="25" name="Text 23"/>
          <p:cNvSpPr/>
          <p:nvPr/>
        </p:nvSpPr>
        <p:spPr>
          <a:xfrm>
            <a:off x="8277225" y="7562850"/>
            <a:ext cx="96544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6 节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0287000" y="7496175"/>
            <a:ext cx="800100" cy="5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850" dirty="0">
                <a:solidFill>
                  <a:srgbClr val="26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</a:t>
            </a:r>
            <a:endParaRPr lang="en-US" sz="2850" dirty="0"/>
          </a:p>
        </p:txBody>
      </p:sp>
      <p:sp>
        <p:nvSpPr>
          <p:cNvPr id="27" name="Shape 25"/>
          <p:cNvSpPr/>
          <p:nvPr/>
        </p:nvSpPr>
        <p:spPr>
          <a:xfrm>
            <a:off x="1066800" y="9115425"/>
            <a:ext cx="16154400" cy="19050"/>
          </a:xfrm>
          <a:prstGeom prst="rect">
            <a:avLst/>
          </a:prstGeom>
          <a:solidFill>
            <a:srgbClr val="DDDDE1"/>
          </a:solidFill>
          <a:ln/>
        </p:spPr>
      </p:sp>
      <p:sp>
        <p:nvSpPr>
          <p:cNvPr id="28" name="Text 26"/>
          <p:cNvSpPr/>
          <p:nvPr/>
        </p:nvSpPr>
        <p:spPr>
          <a:xfrm>
            <a:off x="1066800" y="9324975"/>
            <a:ext cx="421203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高速公路预约换电 · 路径与充电联合优化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522005" y="9324975"/>
            <a:ext cx="7753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2026-09-20T14:08:08Z</dcterms:created>
  <dcterms:modified xsi:type="dcterms:W3CDTF">2026-09-20T14:08:08Z</dcterms:modified>
</cp:coreProperties>
</file>